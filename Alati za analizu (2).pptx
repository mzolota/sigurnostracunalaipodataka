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6628A2-A02C-4772-AD3B-C109B72F1E2F}" v="502" dt="2023-05-31T18:50:09.691"/>
    <p1510:client id="{D7A87C42-1F54-4B3F-8FBE-D1B2642AFC9D}" v="5" dt="2023-05-31T20:05:54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>
            <a:extLst>
              <a:ext uri="{FF2B5EF4-FFF2-40B4-BE49-F238E27FC236}">
                <a16:creationId xmlns:a16="http://schemas.microsoft.com/office/drawing/2014/main" id="{E60F855A-AEED-4848-8D3C-3989F24FE80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l-G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l-GR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6113E606-6E19-4C82-905A-A063A2ABC62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l-G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5A5F5A8E-C72A-41CA-8AC9-887803711599}" type="datetime1">
              <a:rPr lang="el-GR"/>
              <a:pPr lvl="0"/>
              <a:t>31/5/2023</a:t>
            </a:fld>
            <a:endParaRPr lang="el-GR"/>
          </a:p>
        </p:txBody>
      </p:sp>
      <p:sp>
        <p:nvSpPr>
          <p:cNvPr id="4" name="Θέση εικόνας διαφάνειας 3">
            <a:extLst>
              <a:ext uri="{FF2B5EF4-FFF2-40B4-BE49-F238E27FC236}">
                <a16:creationId xmlns:a16="http://schemas.microsoft.com/office/drawing/2014/main" id="{31E0C009-2108-492A-8585-4549624C8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Θέση σημειώσεων 4">
            <a:extLst>
              <a:ext uri="{FF2B5EF4-FFF2-40B4-BE49-F238E27FC236}">
                <a16:creationId xmlns:a16="http://schemas.microsoft.com/office/drawing/2014/main" id="{A8BFBD08-FD46-440A-970E-50F1F0ADD17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2EB4B81-B55E-424D-9A0C-A95452AB727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l-G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5E73C1D-2343-462E-81DF-F16069EF804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l-G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8E0EDC3F-379F-4833-919C-26B2171000E7}" type="slidenum"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570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l-G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l-G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l-G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l-G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l-G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5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8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22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2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6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773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324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7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70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777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152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145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61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993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504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21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27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25E8-E3F1-0642-F5A5-839DF52A0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421" y="2139379"/>
            <a:ext cx="7362085" cy="2757176"/>
          </a:xfrm>
        </p:spPr>
        <p:txBody>
          <a:bodyPr>
            <a:normAutofit fontScale="90000"/>
          </a:bodyPr>
          <a:lstStyle/>
          <a:p>
            <a:pPr algn="ctr"/>
            <a:r>
              <a:rPr lang="hr-HR" sz="4600" b="1">
                <a:latin typeface="Arial"/>
                <a:cs typeface="Arial"/>
              </a:rPr>
              <a:t>ALATI ZA STATIČKU I DINAMIČKU ANALIZU ZLONAMJERNIH PROGRAMA</a:t>
            </a:r>
            <a:endParaRPr lang="en-US" sz="4600">
              <a:latin typeface="Arial"/>
              <a:cs typeface="Arial"/>
            </a:endParaRPr>
          </a:p>
          <a:p>
            <a:endParaRPr lang="en-US" sz="4600">
              <a:cs typeface="Aharon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0AE39-F391-0430-FEFE-2384E7F13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02038"/>
            <a:ext cx="7362085" cy="2569942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1F9D-2F4A-BEBE-89C6-D337A8E3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Statička</a:t>
            </a:r>
            <a:r>
              <a:rPr lang="en-US" b="1" dirty="0"/>
              <a:t> </a:t>
            </a:r>
            <a:r>
              <a:rPr lang="en-US" b="1" dirty="0" err="1"/>
              <a:t>analiza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305F1-EC33-47E3-70F7-38DB4E062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tehnika koja se koristi u kibernetičkoj sigurnosti kako bi se proučile i razumjele karakteristike i potencijalne prijetnje zlonamjernih programa bez njihovog izvršavanja</a:t>
            </a: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Fokusira se na kod i strukturu zlonamjernog programa</a:t>
            </a: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Jedna od glavnih prednosti statičke analize je mogućnost otkrivanja potencijalnih prijetnji već u razvojnoj ili detekcijskoj fazi</a:t>
            </a:r>
          </a:p>
          <a:p>
            <a:pPr>
              <a:buFont typeface="Arial" charset="2"/>
              <a:buChar char="•"/>
            </a:pPr>
            <a:endParaRPr lang="hr-HR" sz="1200" dirty="0">
              <a:latin typeface="Arial"/>
              <a:cs typeface="Arial"/>
            </a:endParaRPr>
          </a:p>
          <a:p>
            <a:r>
              <a:rPr lang="hr-HR" sz="1200" dirty="0">
                <a:latin typeface="Arial"/>
                <a:cs typeface="Arial"/>
              </a:rPr>
              <a:t>Postoje četiri  pristupa statičkoj analizi : </a:t>
            </a: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Antivirusni skeneri</a:t>
            </a: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Okviri za binarnu analizu</a:t>
            </a: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Dekompilatori i </a:t>
            </a:r>
            <a:r>
              <a:rPr lang="hr-HR" sz="1200" dirty="0" err="1">
                <a:latin typeface="Arial"/>
                <a:cs typeface="Arial"/>
              </a:rPr>
              <a:t>disassembleri</a:t>
            </a:r>
            <a:endParaRPr lang="hr-HR" sz="1200" dirty="0">
              <a:latin typeface="Arial"/>
              <a:cs typeface="Arial"/>
            </a:endParaRPr>
          </a:p>
          <a:p>
            <a:pPr>
              <a:buFont typeface="Arial" charset="2"/>
              <a:buChar char="•"/>
            </a:pPr>
            <a:r>
              <a:rPr lang="hr-HR" sz="1200" dirty="0">
                <a:latin typeface="Arial"/>
                <a:cs typeface="Arial"/>
              </a:rPr>
              <a:t>Analizatori koda</a:t>
            </a:r>
          </a:p>
          <a:p>
            <a:pPr>
              <a:buFont typeface="Arial" charset="2"/>
              <a:buChar char="•"/>
            </a:pPr>
            <a:endParaRPr lang="hr-HR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346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E4420-A954-A547-D80F-37FCB980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4E33-34A8-E6CF-E8FB-4A694C650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283952"/>
            <a:ext cx="8825659" cy="37358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 sz="1600" b="1" dirty="0">
                <a:latin typeface="Arial"/>
                <a:cs typeface="Arial"/>
              </a:rPr>
              <a:t>Antivirusni softver: </a:t>
            </a:r>
            <a:r>
              <a:rPr lang="hr-HR" sz="1400" dirty="0">
                <a:latin typeface="Arial"/>
                <a:cs typeface="Arial"/>
              </a:rPr>
              <a:t>koristi analizu temeljenu na potpisima kako bi usporedio binarne datoteke programa s bazom poznatih potpisa zlonamjernog softvera. Ova tehnika je učinkovita u identificiranju poznatih prijetnji, ali može imati poteškoća s novim ili prilagođenim varijantama zlonamjernog softvera.</a:t>
            </a:r>
            <a:endParaRPr lang="en-US" sz="1400">
              <a:latin typeface="Arial"/>
              <a:cs typeface="Arial"/>
            </a:endParaRPr>
          </a:p>
          <a:p>
            <a:r>
              <a:rPr lang="hr-HR" sz="1400" b="1" dirty="0">
                <a:solidFill>
                  <a:srgbClr val="000000"/>
                </a:solidFill>
                <a:latin typeface="Arial"/>
                <a:cs typeface="Arial"/>
              </a:rPr>
              <a:t>Okviri za binarnu analizu: </a:t>
            </a:r>
            <a:r>
              <a:rPr lang="hr-HR" sz="1400" dirty="0">
                <a:latin typeface="Arial"/>
                <a:cs typeface="Arial"/>
              </a:rPr>
              <a:t>analiziraju binarne izvršne datoteke kako bi izvukli informacije o njihovoj strukturi, pozivima funkcija i potencijalnim ranjivostima. Ispitivanjem programa na niskoj razini, analitičari mogu prepoznati zlonamjerna ponašanja kao što je ubacivanje koda, eskalacija privilegija ili neovlašteni pristup.</a:t>
            </a:r>
          </a:p>
          <a:p>
            <a:r>
              <a:rPr lang="hr-HR" sz="1400" b="1" dirty="0">
                <a:solidFill>
                  <a:srgbClr val="000000"/>
                </a:solidFill>
                <a:latin typeface="Arial"/>
                <a:cs typeface="Arial"/>
              </a:rPr>
              <a:t>Dekompilatori i </a:t>
            </a:r>
            <a:r>
              <a:rPr lang="hr-HR" sz="1400" b="1" err="1">
                <a:solidFill>
                  <a:srgbClr val="000000"/>
                </a:solidFill>
                <a:latin typeface="Arial"/>
                <a:cs typeface="Arial"/>
              </a:rPr>
              <a:t>disassembleri</a:t>
            </a:r>
            <a:r>
              <a:rPr lang="hr-HR" sz="1400" b="1" dirty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hr-HR" sz="1400" dirty="0">
                <a:latin typeface="Arial"/>
                <a:cs typeface="Arial"/>
              </a:rPr>
              <a:t>koriste se za reverzni inženjering izvršnih datoteka, pretvarajući ih iz strojnog koda natrag u programski jezik više razine ili asemblerski jezik. Ispitivanjem </a:t>
            </a:r>
            <a:r>
              <a:rPr lang="hr-HR" sz="1400" err="1">
                <a:latin typeface="Arial"/>
                <a:cs typeface="Arial"/>
              </a:rPr>
              <a:t>dekompiliranog</a:t>
            </a:r>
            <a:r>
              <a:rPr lang="hr-HR" sz="1400" dirty="0">
                <a:latin typeface="Arial"/>
                <a:cs typeface="Arial"/>
              </a:rPr>
              <a:t> koda analitičari mogu steći uvid u ponašanje programa i identificirati potencijalne ranjivosti ili zlonamjerne aktivnosti.</a:t>
            </a:r>
          </a:p>
          <a:p>
            <a:r>
              <a:rPr lang="hr-HR" sz="1400" b="1" dirty="0">
                <a:solidFill>
                  <a:srgbClr val="000000"/>
                </a:solidFill>
                <a:latin typeface="Arial"/>
                <a:cs typeface="Arial"/>
              </a:rPr>
              <a:t>Analizatori koda: </a:t>
            </a:r>
            <a:r>
              <a:rPr lang="hr-HR" sz="1400" dirty="0">
                <a:latin typeface="Arial"/>
                <a:cs typeface="Arial"/>
              </a:rPr>
              <a:t>Analizatori koda usredotočeni su na analizu izvornog koda programa kako bi otkrili nedostatke kodiranja, nesigurne prakse ili potencijalne ranjivosti. Koriste tehnike statičke analize za prepoznavanje uobičajenih grešaka u programiranju, kao što su prekoračenja među spremnika, ubacivanje SQL-a ili nesigurna provjera valjanosti unosa.</a:t>
            </a:r>
          </a:p>
          <a:p>
            <a:endParaRPr lang="hr-HR" sz="1200" b="1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hr-HR" sz="1200" dirty="0">
              <a:solidFill>
                <a:srgbClr val="404040"/>
              </a:solidFill>
              <a:latin typeface="Arial"/>
              <a:cs typeface="Arial"/>
            </a:endParaRPr>
          </a:p>
          <a:p>
            <a:endParaRPr lang="hr-HR" sz="1200" b="1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hr-HR" sz="1200" dirty="0">
              <a:solidFill>
                <a:srgbClr val="404040"/>
              </a:solidFill>
              <a:latin typeface="Arial"/>
              <a:cs typeface="Arial"/>
            </a:endParaRPr>
          </a:p>
          <a:p>
            <a:endParaRPr lang="hr-HR" sz="1200" b="1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16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B533-5EB7-C541-A2E3-5B724C98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Dinamička</a:t>
            </a:r>
            <a:r>
              <a:rPr lang="en-US" b="1" dirty="0"/>
              <a:t> </a:t>
            </a:r>
            <a:r>
              <a:rPr lang="en-US" b="1" dirty="0" err="1"/>
              <a:t>analiza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93F45-BC36-AC1F-6CAB-A62F386DD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00339"/>
            <a:ext cx="8825659" cy="34163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 charset="2"/>
              <a:buChar char="•"/>
            </a:pPr>
            <a:r>
              <a:rPr lang="hr-HR" sz="1400" dirty="0">
                <a:latin typeface="Arial"/>
                <a:cs typeface="Arial"/>
              </a:rPr>
              <a:t>Tehnika koja se koristi u kibernetičkoj sigurnosti kako bi se proučilo ponašanje zlonamjernih programa tijekom izvršavanja istih</a:t>
            </a:r>
            <a:endParaRPr lang="en-US" sz="1400"/>
          </a:p>
          <a:p>
            <a:pPr>
              <a:buFont typeface="Arial" charset="2"/>
              <a:buChar char="•"/>
            </a:pPr>
            <a:r>
              <a:rPr lang="hr-HR" sz="1400" dirty="0">
                <a:latin typeface="Arial"/>
                <a:cs typeface="Arial"/>
              </a:rPr>
              <a:t>Ova metoda uključuje pokretanje programa u kontroliranom okruženju kako bi se promatralo ponašanje zlonamjernih programa , identificirale zlonamjerne radnje i otkrile potencijalne prijetnje</a:t>
            </a:r>
          </a:p>
          <a:p>
            <a:pPr>
              <a:buFont typeface="Arial" charset="2"/>
              <a:buChar char="•"/>
            </a:pPr>
            <a:r>
              <a:rPr lang="hr-HR" sz="1400" dirty="0">
                <a:latin typeface="Arial"/>
                <a:cs typeface="Arial"/>
              </a:rPr>
              <a:t>Glavni cilj dinamičke analize je dobivanje detaljnih informacija o tome kake se zlonamjerni program ponaša i odnosi  s okolinom. Tijekom dinamičke analize , program se izvršava u virtualnom ili izoliranom okruženju, sve aktivnosti zlonamjernog programa se prate , snimaju i analiziraju. Ova analiza može otkriti skrivene funkcionalnosti, kao što su krađa podataka, komunikacija s vanjskim poslužiteljima, manipulacija </a:t>
            </a:r>
            <a:r>
              <a:rPr lang="hr-HR" sz="1400" err="1">
                <a:latin typeface="Arial"/>
                <a:cs typeface="Arial"/>
              </a:rPr>
              <a:t>sustavskim</a:t>
            </a:r>
            <a:r>
              <a:rPr lang="hr-HR" sz="1400" dirty="0">
                <a:latin typeface="Arial"/>
                <a:cs typeface="Arial"/>
              </a:rPr>
              <a:t> resursima ili pokretanje i izvršavanje neželjenih radnji</a:t>
            </a:r>
          </a:p>
          <a:p>
            <a:r>
              <a:rPr lang="hr-HR" sz="1400" dirty="0">
                <a:latin typeface="Arial"/>
                <a:cs typeface="Arial"/>
              </a:rPr>
              <a:t>Ovo su neki od primjera alata i tehnika koji se koriste: </a:t>
            </a:r>
          </a:p>
          <a:p>
            <a:pPr>
              <a:buFont typeface="Arial" charset="2"/>
              <a:buChar char="•"/>
            </a:pPr>
            <a:r>
              <a:rPr lang="hr-HR" sz="1400" err="1">
                <a:latin typeface="Arial"/>
                <a:cs typeface="Arial"/>
              </a:rPr>
              <a:t>Sandbox</a:t>
            </a:r>
            <a:r>
              <a:rPr lang="hr-HR" sz="1400" dirty="0">
                <a:latin typeface="Arial"/>
                <a:cs typeface="Arial"/>
              </a:rPr>
              <a:t> okruženja</a:t>
            </a:r>
          </a:p>
          <a:p>
            <a:pPr>
              <a:buFont typeface="Arial" charset="2"/>
              <a:buChar char="•"/>
            </a:pPr>
            <a:r>
              <a:rPr lang="hr-HR" sz="1400" err="1">
                <a:latin typeface="Arial"/>
                <a:cs typeface="Arial"/>
              </a:rPr>
              <a:t>Debugging</a:t>
            </a:r>
            <a:r>
              <a:rPr lang="hr-HR" sz="1400" dirty="0">
                <a:latin typeface="Arial"/>
                <a:cs typeface="Arial"/>
              </a:rPr>
              <a:t> alati</a:t>
            </a:r>
          </a:p>
          <a:p>
            <a:pPr>
              <a:buFont typeface="Arial" charset="2"/>
              <a:buChar char="•"/>
            </a:pPr>
            <a:r>
              <a:rPr lang="hr-HR" sz="1400" dirty="0">
                <a:latin typeface="Arial"/>
                <a:cs typeface="Arial"/>
              </a:rPr>
              <a:t>praćenje mrežnih aktivnosti</a:t>
            </a:r>
          </a:p>
          <a:p>
            <a:pPr>
              <a:buFont typeface="Arial" charset="2"/>
              <a:buChar char="•"/>
            </a:pPr>
            <a:r>
              <a:rPr lang="hr-HR" sz="1400" dirty="0">
                <a:latin typeface="Arial"/>
                <a:cs typeface="Arial"/>
              </a:rPr>
              <a:t>Analiza ponašanja</a:t>
            </a:r>
          </a:p>
          <a:p>
            <a:pPr>
              <a:buFont typeface="Arial" charset="2"/>
              <a:buChar char="•"/>
            </a:pPr>
            <a:endParaRPr lang="hr-HR" sz="1400" dirty="0">
              <a:latin typeface="Arial"/>
              <a:cs typeface="Arial"/>
            </a:endParaRPr>
          </a:p>
          <a:p>
            <a:pPr marL="0" indent="0">
              <a:buNone/>
            </a:pPr>
            <a:endParaRPr lang="hr-HR"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27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D28D-8D5C-D424-E0BE-AFE10AA8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BDEB-6DFE-523F-EEBC-9E8C2A764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sz="1400" b="1" err="1">
                <a:latin typeface="Arial"/>
                <a:cs typeface="Arial"/>
              </a:rPr>
              <a:t>Sandbox</a:t>
            </a:r>
            <a:r>
              <a:rPr lang="hr-HR" sz="1400" b="1" dirty="0">
                <a:latin typeface="Arial"/>
                <a:cs typeface="Arial"/>
              </a:rPr>
              <a:t> okruženja:</a:t>
            </a:r>
            <a:r>
              <a:rPr lang="hr-HR" sz="1400" dirty="0">
                <a:latin typeface="Arial"/>
                <a:cs typeface="Arial"/>
              </a:rPr>
              <a:t> omogućuje izolirano i kontrolirano izvršavanje zlonamjernog programa. Ova okruženja ograničavaju pristup resursima sustava poput datoteka, registara i mreže kako bi se spriječilo širenje zlonamjernog programa. Praćenjem aktivnosti programa unutar </a:t>
            </a:r>
            <a:r>
              <a:rPr lang="hr-HR" sz="1400" err="1">
                <a:latin typeface="Arial"/>
                <a:cs typeface="Arial"/>
              </a:rPr>
              <a:t>sandboxa</a:t>
            </a:r>
            <a:r>
              <a:rPr lang="hr-HR" sz="1400" dirty="0">
                <a:latin typeface="Arial"/>
                <a:cs typeface="Arial"/>
              </a:rPr>
              <a:t> mogu se identificirati sumnjive radnje ili potencijalno zlonamjerni postupci.</a:t>
            </a:r>
            <a:endParaRPr lang="en-US" sz="1400">
              <a:latin typeface="Arial"/>
              <a:cs typeface="Arial"/>
            </a:endParaRPr>
          </a:p>
          <a:p>
            <a:r>
              <a:rPr lang="hr-HR" sz="1400" b="1" err="1">
                <a:latin typeface="Arial"/>
                <a:cs typeface="Arial"/>
              </a:rPr>
              <a:t>Debugging</a:t>
            </a:r>
            <a:r>
              <a:rPr lang="hr-HR" sz="1400" b="1" dirty="0">
                <a:latin typeface="Arial"/>
                <a:cs typeface="Arial"/>
              </a:rPr>
              <a:t> alati: </a:t>
            </a:r>
            <a:r>
              <a:rPr lang="hr-HR" sz="1400" dirty="0">
                <a:latin typeface="Arial"/>
                <a:cs typeface="Arial"/>
              </a:rPr>
              <a:t>koriste za analizu izvršavanja programa u stvarnom vremenu. Omogućuju istraživačima da korak po korak prate izvršavanje programa, promatraju registre, memoriju i ulazne/izlazne podatke. Ova vrsta analize može otkriti neobično ponašanje, ranjivosti ili izravne napade na programe </a:t>
            </a:r>
            <a:endParaRPr lang="hr-HR" sz="1400" b="1" dirty="0">
              <a:latin typeface="Arial"/>
              <a:cs typeface="Arial"/>
            </a:endParaRPr>
          </a:p>
          <a:p>
            <a:r>
              <a:rPr lang="hr-HR" sz="1400" b="1" dirty="0">
                <a:latin typeface="Arial"/>
                <a:cs typeface="Arial"/>
              </a:rPr>
              <a:t>Praćenje mrežnih aktivnosti: </a:t>
            </a:r>
            <a:r>
              <a:rPr lang="hr-HR" sz="1400" dirty="0">
                <a:latin typeface="Arial"/>
                <a:cs typeface="Arial"/>
              </a:rPr>
              <a:t> pruža uvid u komunikaciju s vanjskim poslužiteljima, razmjenu podataka i korištenje štetnih protokola. Alati za praćenje mreže mogu snimati promet i analizirati ga kako bi se identificirale sumnjive ili nepoželjne aktivnosti.</a:t>
            </a:r>
          </a:p>
          <a:p>
            <a:r>
              <a:rPr lang="hr-HR" sz="1400" b="1" dirty="0">
                <a:latin typeface="Arial"/>
                <a:cs typeface="Arial"/>
              </a:rPr>
              <a:t>Analiza </a:t>
            </a:r>
            <a:r>
              <a:rPr lang="hr-HR" sz="1400" b="1" err="1">
                <a:latin typeface="Arial"/>
                <a:cs typeface="Arial"/>
              </a:rPr>
              <a:t>ponašanja:</a:t>
            </a:r>
            <a:r>
              <a:rPr lang="hr-HR" sz="1400" err="1">
                <a:latin typeface="Arial"/>
                <a:cs typeface="Arial"/>
              </a:rPr>
              <a:t>uključuje</a:t>
            </a:r>
            <a:r>
              <a:rPr lang="hr-HR" sz="1400" dirty="0">
                <a:latin typeface="Arial"/>
                <a:cs typeface="Arial"/>
              </a:rPr>
              <a:t> praćenje i ponašanje programa tijekom izvršavanja, poput promjena u registru, stvaranja i brisanja datoteka, manipulacije procesima ili nedozvoljeno korištenje privilegija. Analiza ponašanja može otkriti skrivene zlonamjerne radnje i indikatore kompromitiranja.</a:t>
            </a:r>
          </a:p>
          <a:p>
            <a:endParaRPr lang="hr-HR" sz="1200" dirty="0">
              <a:latin typeface="Arial"/>
              <a:cs typeface="Arial"/>
            </a:endParaRPr>
          </a:p>
          <a:p>
            <a:endParaRPr lang="hr-HR" sz="1200" b="1" dirty="0">
              <a:latin typeface="Arial"/>
              <a:cs typeface="Arial"/>
            </a:endParaRPr>
          </a:p>
          <a:p>
            <a:endParaRPr lang="hr-HR" sz="1200" dirty="0">
              <a:latin typeface="Arial"/>
              <a:cs typeface="Arial"/>
            </a:endParaRPr>
          </a:p>
          <a:p>
            <a:endParaRPr lang="hr-HR" sz="1200" b="1" dirty="0">
              <a:latin typeface="Arial"/>
              <a:cs typeface="Arial"/>
            </a:endParaRPr>
          </a:p>
          <a:p>
            <a:endParaRPr lang="hr-HR" sz="1100" dirty="0">
              <a:latin typeface="Calibri"/>
              <a:cs typeface="Calibri"/>
            </a:endParaRPr>
          </a:p>
          <a:p>
            <a:endParaRPr lang="hr-HR" sz="1200" dirty="0">
              <a:latin typeface="Arial"/>
              <a:cs typeface="Arial"/>
            </a:endParaRPr>
          </a:p>
          <a:p>
            <a:endParaRPr lang="hr-HR" sz="1200" b="1" dirty="0">
              <a:latin typeface="Arial"/>
              <a:cs typeface="Arial"/>
            </a:endParaRPr>
          </a:p>
          <a:p>
            <a:endParaRPr lang="hr-HR" sz="12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38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70E0-E210-F748-FE77-0E44C369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Alati za </a:t>
            </a:r>
            <a:r>
              <a:rPr lang="en-US" b="1" err="1"/>
              <a:t>analizu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88EA7-105F-DFC3-5241-1C0BCA0F1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 sz="1400" dirty="0">
                <a:latin typeface="Arial"/>
                <a:cs typeface="Arial"/>
              </a:rPr>
              <a:t>Za kvalitetnu analizu zlonamjernih programa potrebna je velika količina znanja te razumijevanja arhitekture uređaja i aplikacija na kojima radimo. Kako bi se analiza poboljšala i pojednostavnila postoje mnogi alati koji pomažu u provođenju analize zlonamjernih programa. Postoji niz alata dostupnih za analizu zlonamjernih programa koji se koriste a ovo su neki od njih: </a:t>
            </a:r>
            <a:r>
              <a:rPr lang="hr-HR" sz="1400" b="1" dirty="0">
                <a:latin typeface="Arial"/>
                <a:cs typeface="Arial"/>
              </a:rPr>
              <a:t>Kali Linux, IDA Pro, </a:t>
            </a:r>
            <a:r>
              <a:rPr lang="hr-HR" sz="1400" b="1" err="1">
                <a:latin typeface="Arial"/>
                <a:cs typeface="Arial"/>
              </a:rPr>
              <a:t>OllyDbg</a:t>
            </a:r>
            <a:r>
              <a:rPr lang="hr-HR" sz="1400" b="1" dirty="0">
                <a:latin typeface="Arial"/>
                <a:cs typeface="Arial"/>
              </a:rPr>
              <a:t>, </a:t>
            </a:r>
            <a:r>
              <a:rPr lang="hr-HR" sz="1400" b="1" err="1">
                <a:latin typeface="Arial"/>
                <a:cs typeface="Arial"/>
              </a:rPr>
              <a:t>Wireshark</a:t>
            </a:r>
            <a:r>
              <a:rPr lang="hr-HR" sz="1400" b="1" dirty="0">
                <a:latin typeface="Arial"/>
                <a:cs typeface="Arial"/>
              </a:rPr>
              <a:t>, </a:t>
            </a:r>
            <a:r>
              <a:rPr lang="hr-HR" sz="1400" b="1" err="1">
                <a:latin typeface="Arial"/>
                <a:cs typeface="Arial"/>
              </a:rPr>
              <a:t>Cuckoo</a:t>
            </a:r>
            <a:r>
              <a:rPr lang="hr-HR" sz="1400" b="1" dirty="0">
                <a:latin typeface="Arial"/>
                <a:cs typeface="Arial"/>
              </a:rPr>
              <a:t> </a:t>
            </a:r>
            <a:r>
              <a:rPr lang="hr-HR" sz="1400" b="1" err="1">
                <a:latin typeface="Arial"/>
                <a:cs typeface="Arial"/>
              </a:rPr>
              <a:t>Sandbox</a:t>
            </a:r>
            <a:r>
              <a:rPr lang="hr-HR" sz="1400" b="1" dirty="0">
                <a:latin typeface="Arial"/>
                <a:cs typeface="Arial"/>
              </a:rPr>
              <a:t>, </a:t>
            </a:r>
            <a:r>
              <a:rPr lang="hr-HR" sz="1400" b="1" err="1">
                <a:latin typeface="Arial"/>
                <a:cs typeface="Arial"/>
              </a:rPr>
              <a:t>VirusTotal</a:t>
            </a:r>
            <a:endParaRPr lang="en-US" sz="1400" b="1" err="1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07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D2669AB-35DB-41EC-BE9C-DA80B60A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069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49246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6A0E9B-96B1-FD4D-8496-E6215D86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IDA pro</a:t>
            </a:r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2ECFE48-E542-CE1B-1A61-00905372F8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19" r="33286" b="1"/>
          <a:stretch/>
        </p:blipFill>
        <p:spPr>
          <a:xfrm>
            <a:off x="7418226" y="645106"/>
            <a:ext cx="4125317" cy="558536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2493C-AE65-10CC-0824-A06676E7D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r-HR" sz="1500">
                <a:solidFill>
                  <a:schemeClr val="tx1"/>
                </a:solidFill>
                <a:latin typeface="Arial"/>
                <a:cs typeface="Arial"/>
              </a:rPr>
              <a:t>visokokvalitetni alat za statičku analizu zlonamjernih programa</a:t>
            </a:r>
            <a:endParaRPr lang="en-US" sz="1500">
              <a:solidFill>
                <a:schemeClr val="tx1"/>
              </a:solidFill>
              <a:latin typeface="Century Gothic" panose="020B0502020202020204"/>
              <a:cs typeface="Arial"/>
            </a:endParaRP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chemeClr val="tx1"/>
                </a:solidFill>
                <a:latin typeface="Arial"/>
                <a:cs typeface="Arial"/>
              </a:rPr>
              <a:t>omogućuje analitičarima da detaljno prouče binarni kod zlonamjernog softvera i razumiju njegovu strukturu. </a:t>
            </a: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chemeClr val="tx1"/>
                </a:solidFill>
                <a:latin typeface="Arial"/>
                <a:cs typeface="Arial"/>
              </a:rPr>
              <a:t>omogućuje de kompilaciju binarnog koda, što znači da se može pretvoriti u razumljiviji visokorazinski jezik, što olakšava analizu i razumijevanje funkcioniranja programa. Jedna od ključnih prednosti IDA Pro-a je njegova sposobnost da se bavi složenim i kodom</a:t>
            </a: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chemeClr val="tx1"/>
                </a:solidFill>
                <a:latin typeface="Arial"/>
                <a:cs typeface="Arial"/>
              </a:rPr>
              <a:t>DA Pro nudi napredne mogućnosti za pregledavanje izvršnog koda. Analitičari mogu pratiti izvršavanje programa korak po korak, proučavati registre i memoriju, te pratiti ulazno/izlazne operacije. To omogućuje dublje razumijevanje zlonamjernog programa i otkrivanje njegovih specifičnih radnji ili ranjivosti</a:t>
            </a:r>
          </a:p>
        </p:txBody>
      </p:sp>
    </p:spTree>
    <p:extLst>
      <p:ext uri="{BB962C8B-B14F-4D97-AF65-F5344CB8AC3E}">
        <p14:creationId xmlns:p14="http://schemas.microsoft.com/office/powerpoint/2010/main" val="3489894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8ABDB68-E3D5-448E-97D3-06FFEF680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B8DD7FEB-D9F3-4F5B-982C-36B0664D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7676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96BA11E4-0636-4FA9-A836-2A4FB176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3633E-4635-7D64-DD2D-87BD85E2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6072776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OllyDbg</a:t>
            </a:r>
            <a:endParaRPr lang="hr-HR" b="1">
              <a:solidFill>
                <a:srgbClr val="EBEBEB"/>
              </a:solidFill>
              <a:latin typeface="Arial"/>
              <a:cs typeface="Arial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681882E-BDD0-4311-AF62-E8019628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pic>
        <p:nvPicPr>
          <p:cNvPr id="4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39B501AD-16DE-0143-929D-7AF3837AFA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20" r="14824" b="-6"/>
          <a:stretch/>
        </p:blipFill>
        <p:spPr>
          <a:xfrm>
            <a:off x="7418226" y="1578998"/>
            <a:ext cx="4125317" cy="371758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ADD3260-4BDA-459B-A162-5E1B897E3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3DA7DD-CA37-4ED7-8710-48E56B063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92F2E3C-66CD-4DEB-BA14-2A5912B65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1AB1-8C89-2501-2A11-5B1D6B624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6072776" cy="38117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r-HR" sz="1500">
                <a:solidFill>
                  <a:srgbClr val="FFFFFF"/>
                </a:solidFill>
                <a:latin typeface="Arial"/>
                <a:cs typeface="Arial"/>
              </a:rPr>
              <a:t>moćan i fleksibilan debugger koji omogućuje analitičarima da prolaze kroz izvršni kod, pregledavaju registre i memoriju te prate tijek programa</a:t>
            </a: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rgbClr val="FFFFFF"/>
                </a:solidFill>
                <a:latin typeface="Arial"/>
                <a:cs typeface="Arial"/>
              </a:rPr>
              <a:t>ruža korisničko sučelje koje je jednostavno za korištenje i ima razne značajke koje pomažu u analizi binarnih programa. Jedna od ključnih prednosti OllyDbg-a je njegova sposobnost za obavljanje i statičke i dinamičke analize</a:t>
            </a: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rgbClr val="FFFFFF"/>
                </a:solidFill>
                <a:latin typeface="Arial"/>
                <a:cs typeface="Arial"/>
              </a:rPr>
              <a:t>nalitičari mogu učitati izvršni kod u OllyDbg i pregledati disassemblirani kod, što olakšava razumijevanje unutarnjeg djelovanja programa</a:t>
            </a:r>
          </a:p>
          <a:p>
            <a:pPr>
              <a:lnSpc>
                <a:spcPct val="90000"/>
              </a:lnSpc>
            </a:pPr>
            <a:r>
              <a:rPr lang="hr-HR" sz="1500">
                <a:solidFill>
                  <a:srgbClr val="FFFFFF"/>
                </a:solidFill>
                <a:latin typeface="Arial"/>
                <a:cs typeface="Arial"/>
              </a:rPr>
              <a:t>podržava dinamičku analizu omogućavajući analitičarima da pokrenu program i promatraju njegovo ponašanje u stvarnom vremenu. To može biti posebno korisno pri radu s pakiranim ili zamaskiranim zlonamjernim softverom, jer omogućuje analitičarima da dekompresiraju i otkriju pravu funkcionalnost zlonamjernog koda</a:t>
            </a:r>
          </a:p>
        </p:txBody>
      </p:sp>
    </p:spTree>
    <p:extLst>
      <p:ext uri="{BB962C8B-B14F-4D97-AF65-F5344CB8AC3E}">
        <p14:creationId xmlns:p14="http://schemas.microsoft.com/office/powerpoint/2010/main" val="3356859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3A7F-F416-D3BA-6748-7AD0E0E64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hr-HR" sz="2000" b="1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400" b="1" err="1"/>
              <a:t>WireShark</a:t>
            </a:r>
            <a:endParaRPr lang="en-US" sz="2400" b="1"/>
          </a:p>
        </p:txBody>
      </p:sp>
      <p:pic>
        <p:nvPicPr>
          <p:cNvPr id="4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6A8BE6E-A827-AF54-36F8-BD02CA79AD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" b="4933"/>
          <a:stretch/>
        </p:blipFill>
        <p:spPr>
          <a:xfrm>
            <a:off x="1151467" y="2775951"/>
            <a:ext cx="4345024" cy="306716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E9A26-47C9-66D0-47FD-CD20F449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0954" y="2603500"/>
            <a:ext cx="5211979" cy="34163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r-HR" sz="1400">
                <a:latin typeface="Arial"/>
                <a:cs typeface="Arial"/>
              </a:rPr>
              <a:t>popularan alat za analizu mrežnih protokola otvorenog koda. Omogućuje korisnicima analiziranje mrežnog promet u stvarnom vremenu te pruža vrijedne uvide u komunikaciju između različitih mrežnih uređaja</a:t>
            </a:r>
          </a:p>
          <a:p>
            <a:pPr>
              <a:lnSpc>
                <a:spcPct val="90000"/>
              </a:lnSpc>
            </a:pPr>
            <a:r>
              <a:rPr lang="hr-HR" sz="1400" dirty="0">
                <a:latin typeface="Arial"/>
                <a:cs typeface="Arial"/>
              </a:rPr>
              <a:t>Glavna snaga </a:t>
            </a:r>
            <a:r>
              <a:rPr lang="hr-HR" sz="1400" dirty="0" err="1">
                <a:latin typeface="Arial"/>
                <a:cs typeface="Arial"/>
              </a:rPr>
              <a:t>Wireshark</a:t>
            </a:r>
            <a:r>
              <a:rPr lang="hr-HR" sz="1400" dirty="0">
                <a:latin typeface="Arial"/>
                <a:cs typeface="Arial"/>
              </a:rPr>
              <a:t>-a leži u njegovoj sposobnosti da uhvati i razdvoji mrežne pakete. Pruža detaljan prikaz svakog uhvaćenog paketa, uključujući izvorne i odredišne adrese, informacije o protokolu, podatke paketa</a:t>
            </a:r>
          </a:p>
          <a:p>
            <a:pPr>
              <a:lnSpc>
                <a:spcPct val="90000"/>
              </a:lnSpc>
            </a:pPr>
            <a:r>
              <a:rPr lang="hr-HR" sz="1400" dirty="0">
                <a:latin typeface="Arial"/>
                <a:cs typeface="Arial"/>
              </a:rPr>
              <a:t>Osim analize na razini paketa, </a:t>
            </a:r>
            <a:r>
              <a:rPr lang="hr-HR" sz="1400" dirty="0" err="1">
                <a:latin typeface="Arial"/>
                <a:cs typeface="Arial"/>
              </a:rPr>
              <a:t>Wireshark</a:t>
            </a:r>
            <a:r>
              <a:rPr lang="hr-HR" sz="1400" dirty="0">
                <a:latin typeface="Arial"/>
                <a:cs typeface="Arial"/>
              </a:rPr>
              <a:t> pruža statističku analizu i grafički prikaz mrežnog prometa. Može generirati razne vrste izvještaja, grafikona i dijagrama kako bi vizualizirao ponašanje mreže, identificirao obrasce i analizirao trendove tijekom vremena</a:t>
            </a:r>
          </a:p>
          <a:p>
            <a:pPr>
              <a:lnSpc>
                <a:spcPct val="90000"/>
              </a:lnSpc>
            </a:pPr>
            <a:endParaRPr lang="hr-HR"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8464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8125-D490-26EC-C7AC-91475B933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4245" y="1558959"/>
            <a:ext cx="8825658" cy="2677648"/>
          </a:xfrm>
        </p:spPr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7D38D-80D1-F40D-6061-6DCD7DB5C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162864"/>
            <a:ext cx="9440174" cy="1475936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dirty="0" err="1">
                <a:solidFill>
                  <a:schemeClr val="bg1"/>
                </a:solidFill>
              </a:rPr>
              <a:t>Izradili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  <a:latin typeface="Century Gothic"/>
                <a:cs typeface="Arial"/>
              </a:rPr>
              <a:t>Marin </a:t>
            </a:r>
            <a:r>
              <a:rPr lang="en-US" dirty="0" err="1">
                <a:solidFill>
                  <a:schemeClr val="bg1"/>
                </a:solidFill>
                <a:latin typeface="Century Gothic"/>
                <a:cs typeface="Arial"/>
              </a:rPr>
              <a:t>Zolota</a:t>
            </a:r>
            <a:endParaRPr lang="hr-HR" sz="1400" dirty="0" err="1">
              <a:solidFill>
                <a:schemeClr val="bg1"/>
              </a:solidFill>
              <a:latin typeface="Arial"/>
              <a:cs typeface="Arial"/>
            </a:endParaRPr>
          </a:p>
          <a:p>
            <a:pPr algn="r"/>
            <a:r>
              <a:rPr lang="en-US" dirty="0">
                <a:solidFill>
                  <a:schemeClr val="bg1"/>
                </a:solidFill>
                <a:cs typeface="Arial"/>
              </a:rPr>
              <a:t>               Filip </a:t>
            </a:r>
            <a:r>
              <a:rPr lang="en-US" err="1">
                <a:solidFill>
                  <a:schemeClr val="bg1"/>
                </a:solidFill>
                <a:cs typeface="Arial"/>
              </a:rPr>
              <a:t>Šavorić</a:t>
            </a:r>
            <a:endParaRPr lang="en-US">
              <a:solidFill>
                <a:schemeClr val="bg1"/>
              </a:solidFill>
              <a:cs typeface="Arial"/>
            </a:endParaRPr>
          </a:p>
          <a:p>
            <a:pPr algn="r"/>
            <a:endParaRPr lang="en-US" dirty="0">
              <a:solidFill>
                <a:schemeClr val="bg1"/>
              </a:solidFill>
              <a:cs typeface="Arial"/>
            </a:endParaRPr>
          </a:p>
          <a:p>
            <a:pPr algn="r"/>
            <a:r>
              <a:rPr lang="en-US" dirty="0" err="1">
                <a:solidFill>
                  <a:schemeClr val="bg1"/>
                </a:solidFill>
                <a:cs typeface="Arial"/>
              </a:rPr>
              <a:t>Bjelovar</a:t>
            </a:r>
            <a:r>
              <a:rPr lang="en-US" dirty="0">
                <a:solidFill>
                  <a:schemeClr val="bg1"/>
                </a:solidFill>
                <a:cs typeface="Arial"/>
              </a:rPr>
              <a:t>, 27 </a:t>
            </a:r>
            <a:r>
              <a:rPr lang="en-US" dirty="0" err="1">
                <a:solidFill>
                  <a:schemeClr val="bg1"/>
                </a:solidFill>
                <a:cs typeface="Arial"/>
              </a:rPr>
              <a:t>svibnja</a:t>
            </a:r>
            <a:r>
              <a:rPr lang="en-US" dirty="0">
                <a:solidFill>
                  <a:schemeClr val="bg1"/>
                </a:solidFill>
                <a:cs typeface="Arial"/>
              </a:rPr>
              <a:t>, 2023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0659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1144</Words>
  <Application>Microsoft Office PowerPoint</Application>
  <PresentationFormat>Široki zaslon</PresentationFormat>
  <Paragraphs>145</Paragraphs>
  <Slides>10</Slides>
  <Notes>0</Notes>
  <HiddenSlides>0</HiddenSlides>
  <MMClips>2</MMClips>
  <ScaleCrop>false</ScaleCrop>
  <HeadingPairs>
    <vt:vector size="4" baseType="variant">
      <vt:variant>
        <vt:lpstr>Tema</vt:lpstr>
      </vt:variant>
      <vt:variant>
        <vt:i4>1</vt:i4>
      </vt:variant>
      <vt:variant>
        <vt:lpstr>Naslovi slajdova</vt:lpstr>
      </vt:variant>
      <vt:variant>
        <vt:i4>10</vt:i4>
      </vt:variant>
    </vt:vector>
  </HeadingPairs>
  <TitlesOfParts>
    <vt:vector size="11" baseType="lpstr">
      <vt:lpstr>Ion Boardroom</vt:lpstr>
      <vt:lpstr>ALATI ZA STATIČKU I DINAMIČKU ANALIZU ZLONAMJERNIH PROGRAMA </vt:lpstr>
      <vt:lpstr>Statička analiza</vt:lpstr>
      <vt:lpstr>PowerPoint prezentacija</vt:lpstr>
      <vt:lpstr>Dinamička analiza</vt:lpstr>
      <vt:lpstr>PowerPoint prezentacija</vt:lpstr>
      <vt:lpstr>Alati za analizu</vt:lpstr>
      <vt:lpstr>IDA pro</vt:lpstr>
      <vt:lpstr>OllyDbg</vt:lpstr>
      <vt:lpstr> WireShark</vt:lpstr>
      <vt:lpstr>Hvala na pažnji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Vasileia Kazamia</dc:creator>
  <cp:lastModifiedBy>Vasileia Kazamia</cp:lastModifiedBy>
  <cp:revision>247</cp:revision>
  <dcterms:created xsi:type="dcterms:W3CDTF">2021-06-13T15:12:55Z</dcterms:created>
  <dcterms:modified xsi:type="dcterms:W3CDTF">2023-05-31T20:06:13Z</dcterms:modified>
</cp:coreProperties>
</file>